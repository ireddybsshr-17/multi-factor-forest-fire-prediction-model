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8" r:id="rId1"/>
  </p:sldMasterIdLst>
  <p:notesMasterIdLst>
    <p:notesMasterId r:id="rId14"/>
  </p:notesMasterIdLst>
  <p:handoutMasterIdLst>
    <p:handoutMasterId r:id="rId15"/>
  </p:handoutMasterIdLst>
  <p:sldIdLst>
    <p:sldId id="256" r:id="rId2"/>
    <p:sldId id="274" r:id="rId3"/>
    <p:sldId id="257" r:id="rId4"/>
    <p:sldId id="275" r:id="rId5"/>
    <p:sldId id="258" r:id="rId6"/>
    <p:sldId id="265" r:id="rId7"/>
    <p:sldId id="291" r:id="rId8"/>
    <p:sldId id="276" r:id="rId9"/>
    <p:sldId id="279" r:id="rId10"/>
    <p:sldId id="273" r:id="rId11"/>
    <p:sldId id="285"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E42"/>
    <a:srgbClr val="E2DED9"/>
    <a:srgbClr val="FDFDFD"/>
    <a:srgbClr val="DEDB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2FFA5D-87B4-456A-9821-1D502468CF0F}"/>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58" y="-211"/>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E4FA28-26D5-4BDF-9A75-C27596ADE055}" type="datetimeFigureOut">
              <a:rPr lang="en-US" smtClean="0"/>
              <a:t>10/14/2024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507CFE-5866-4B40-8953-42375E9B5DB3}"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E1D6F-8584-4A53-833D-DCA47225B220}" type="datetimeFigureOut">
              <a:rPr lang="en-US" smtClean="0"/>
              <a:t>10/14/2024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3874D-A20A-4B3E-9C12-F524953D5B76}"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09961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2403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83924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a:t>Add Footer Here</a:t>
            </a:r>
            <a:endParaRPr lang="en-US" noProof="0"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t>‹#›</a:t>
            </a:fld>
            <a:endParaRPr lang="en-US" dirty="0"/>
          </a:p>
        </p:txBody>
      </p:sp>
      <p:cxnSp>
        <p:nvCxnSpPr>
          <p:cNvPr id="2" name="Straight Connector 1">
            <a:extLst>
              <a:ext uri="{FF2B5EF4-FFF2-40B4-BE49-F238E27FC236}">
                <a16:creationId xmlns:a16="http://schemas.microsoft.com/office/drawing/2014/main" id="{95A6020A-0D39-8A89-7CD3-70FC51236D93}"/>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82513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8" name="Footer Placeholder 7"/>
          <p:cNvSpPr>
            <a:spLocks noGrp="1"/>
          </p:cNvSpPr>
          <p:nvPr>
            <p:ph type="ftr" sz="quarter" idx="11"/>
          </p:nvPr>
        </p:nvSpPr>
        <p:spPr/>
        <p:txBody>
          <a:bodyPr/>
          <a:lstStyle/>
          <a:p>
            <a:r>
              <a:rPr lang="en-US" noProof="0"/>
              <a:t>Add Footer Here</a:t>
            </a:r>
            <a:endParaRPr lang="en-US" noProof="0"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FAB73BC-B049-4115-A692-8D63A059BFB8}" type="slidenum">
              <a:rPr lang="en-US" smtClean="0"/>
              <a:t>‹#›</a:t>
            </a:fld>
            <a:endParaRPr lang="en-US" dirty="0"/>
          </a:p>
        </p:txBody>
      </p:sp>
      <p:cxnSp>
        <p:nvCxnSpPr>
          <p:cNvPr id="2" name="Straight Connector 1">
            <a:extLst>
              <a:ext uri="{FF2B5EF4-FFF2-40B4-BE49-F238E27FC236}">
                <a16:creationId xmlns:a16="http://schemas.microsoft.com/office/drawing/2014/main" id="{74FBDA86-AA48-3FAA-AECC-0737A5AA9D87}"/>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1026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4" name="Footer Placeholder 3"/>
          <p:cNvSpPr>
            <a:spLocks noGrp="1"/>
          </p:cNvSpPr>
          <p:nvPr>
            <p:ph type="ftr" sz="quarter" idx="11"/>
          </p:nvPr>
        </p:nvSpPr>
        <p:spPr/>
        <p:txBody>
          <a:bodyPr/>
          <a:lstStyle/>
          <a:p>
            <a:r>
              <a:rPr lang="en-US" noProof="0"/>
              <a:t>Add Footer Here</a:t>
            </a:r>
            <a:endParaRPr lang="en-US" noProof="0"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cxnSp>
        <p:nvCxnSpPr>
          <p:cNvPr id="6" name="Straight Connector 5">
            <a:extLst>
              <a:ext uri="{FF2B5EF4-FFF2-40B4-BE49-F238E27FC236}">
                <a16:creationId xmlns:a16="http://schemas.microsoft.com/office/drawing/2014/main" id="{90EF0E58-AE2C-CB6F-2742-3CFC396C096D}"/>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3732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3" name="Footer Placeholder 2"/>
          <p:cNvSpPr>
            <a:spLocks noGrp="1"/>
          </p:cNvSpPr>
          <p:nvPr>
            <p:ph type="ftr" sz="quarter" idx="11"/>
          </p:nvPr>
        </p:nvSpPr>
        <p:spPr/>
        <p:txBody>
          <a:bodyPr/>
          <a:lstStyle/>
          <a:p>
            <a:r>
              <a:rPr lang="en-US" noProof="0"/>
              <a:t>Add Footer Here </a:t>
            </a:r>
            <a:endParaRPr lang="en-US" noProof="0"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46717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a:t>Add Footer Here</a:t>
            </a:r>
            <a:endParaRPr lang="en-US" noProof="0"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a:extLst>
              <a:ext uri="{FF2B5EF4-FFF2-40B4-BE49-F238E27FC236}">
                <a16:creationId xmlns:a16="http://schemas.microsoft.com/office/drawing/2014/main" id="{44554B48-3A7B-B852-BC75-964D3879273B}"/>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937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a:t>Add Footer Here</a:t>
            </a:r>
            <a:endParaRPr lang="en-US" noProof="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89510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4009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AB73BC-B049-4115-A692-8D63A059BFB8}"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875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a:t>Add Footer Here</a:t>
            </a:r>
            <a:endParaRPr lang="en-US" noProof="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59708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a:t>Add Footer Here</a:t>
            </a:r>
            <a:endParaRPr lang="en-US" noProof="0"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33383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a:t>Add Footer Here</a:t>
            </a:r>
            <a:endParaRPr lang="en-US" noProof="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31435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99522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a:t>Add Footer Here</a:t>
            </a:r>
            <a:endParaRPr lang="en-US" noProof="0"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2747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p:cNvSpPr>
            <a:spLocks noGrp="1"/>
          </p:cNvSpPr>
          <p:nvPr>
            <p:ph type="title"/>
          </p:nvPr>
        </p:nvSpPr>
        <p:spPr/>
        <p:txBody>
          <a:bodyPr/>
          <a:lstStyle/>
          <a:p>
            <a:r>
              <a:rPr lang="en-US" noProof="0"/>
              <a:t>Click to edit Master title style</a:t>
            </a:r>
          </a:p>
        </p:txBody>
      </p:sp>
      <p:sp>
        <p:nvSpPr>
          <p:cNvPr id="6" name="Text Placeholder 5"/>
          <p:cNvSpPr>
            <a:spLocks noGrp="1"/>
          </p:cNvSpPr>
          <p:nvPr>
            <p:ph type="body" sz="quarter" idx="12"/>
          </p:nvPr>
        </p:nvSpPr>
        <p:spPr>
          <a:xfrm>
            <a:off x="1694656" y="1865037"/>
            <a:ext cx="8802688" cy="3127927"/>
          </a:xfrm>
        </p:spPr>
        <p:txBody>
          <a:bodyPr anchor="ctr">
            <a:normAutofit/>
          </a:bodyPr>
          <a:lstStyle>
            <a:lvl1pPr marL="0" indent="0" algn="ctr">
              <a:buNone/>
              <a:defRPr sz="6000"/>
            </a:lvl1pPr>
            <a:lvl2pPr marL="457200" indent="0">
              <a:buNone/>
              <a:defRPr/>
            </a:lvl2pPr>
          </a:lstStyle>
          <a:p>
            <a:pPr lvl="0"/>
            <a:r>
              <a:rPr lang="en-US" noProof="0"/>
              <a:t>Click to edit Master text styles</a:t>
            </a:r>
          </a:p>
        </p:txBody>
      </p:sp>
    </p:spTree>
    <p:extLst>
      <p:ext uri="{BB962C8B-B14F-4D97-AF65-F5344CB8AC3E}">
        <p14:creationId xmlns:p14="http://schemas.microsoft.com/office/powerpoint/2010/main" val="647787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33" name="Straight Connector 32"/>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Title 5"/>
          <p:cNvSpPr>
            <a:spLocks noGrp="1"/>
          </p:cNvSpPr>
          <p:nvPr>
            <p:ph type="title"/>
          </p:nvPr>
        </p:nvSpPr>
        <p:spPr/>
        <p:txBody>
          <a:bodyPr/>
          <a:lstStyle/>
          <a:p>
            <a:r>
              <a:rPr lang="en-US" noProof="0"/>
              <a:t>Click to edit Master title style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2239" y="2161853"/>
            <a:ext cx="4645152" cy="344859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258679" y="2168318"/>
            <a:ext cx="4645152" cy="3441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p:cNvSpPr>
            <a:spLocks noGrp="1"/>
          </p:cNvSpPr>
          <p:nvPr>
            <p:ph type="title"/>
          </p:nvPr>
        </p:nvSpPr>
        <p:spPr/>
        <p:txBody>
          <a:bodyPr/>
          <a:lstStyle/>
          <a:p>
            <a:r>
              <a:rPr lang="en-US" noProof="0"/>
              <a:t>Click to edit Master title style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mparison">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87315" y="1950795"/>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287315" y="2755515"/>
            <a:ext cx="4645152" cy="26444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52486" y="1954249"/>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52486" y="2752737"/>
            <a:ext cx="4645152" cy="263737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8" name="Footer Placeholder 7"/>
          <p:cNvSpPr>
            <a:spLocks noGrp="1"/>
          </p:cNvSpPr>
          <p:nvPr>
            <p:ph type="ftr" sz="quarter" idx="11"/>
          </p:nvPr>
        </p:nvSpPr>
        <p:spPr/>
        <p:txBody>
          <a:bodyPr/>
          <a:lstStyle/>
          <a:p>
            <a:r>
              <a:rPr lang="en-US" noProof="0" dirty="0"/>
              <a:t>Add Footer Here</a:t>
            </a:r>
          </a:p>
        </p:txBody>
      </p:sp>
      <p:cxnSp>
        <p:nvCxnSpPr>
          <p:cNvPr id="11" name="Straight Connector 10"/>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Title 8"/>
          <p:cNvSpPr>
            <a:spLocks noGrp="1"/>
          </p:cNvSpPr>
          <p:nvPr>
            <p:ph type="title"/>
          </p:nvPr>
        </p:nvSpPr>
        <p:spPr/>
        <p:txBody>
          <a:bodyPr/>
          <a:lstStyle/>
          <a:p>
            <a:r>
              <a:rPr lang="en-US" noProof="0"/>
              <a:t>Click to edit Master title style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Only">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p:cNvSpPr>
            <a:spLocks noGrp="1"/>
          </p:cNvSpPr>
          <p:nvPr>
            <p:ph type="title"/>
          </p:nvPr>
        </p:nvSpPr>
        <p:spPr/>
        <p:txBody>
          <a:bodyPr/>
          <a:lstStyle/>
          <a:p>
            <a:r>
              <a:rPr lang="en-US" noProof="0"/>
              <a:t>Click to edit Master title style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ntent with Caption">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5246" y="1645522"/>
            <a:ext cx="5807176" cy="3840852"/>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1290909" y="1645522"/>
            <a:ext cx="3600000" cy="383672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10/14/2024</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p:cNvSpPr>
            <a:spLocks noGrp="1"/>
          </p:cNvSpPr>
          <p:nvPr>
            <p:ph type="title"/>
          </p:nvPr>
        </p:nvSpPr>
        <p:spPr/>
        <p:txBody>
          <a:bodyPr/>
          <a:lstStyle/>
          <a:p>
            <a:r>
              <a:rPr lang="en-US" noProof="0"/>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D202488-4139-4052-B998-251C9C912739}" type="datetimeFigureOut">
              <a:rPr lang="en-US" noProof="0" smtClean="0"/>
              <a:t>10/14/2024</a:t>
            </a:fld>
            <a:endParaRPr lang="en-US" noProof="0"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noProof="0"/>
              <a:t>Add Footer Here</a:t>
            </a:r>
            <a:endParaRPr lang="en-US" noProof="0"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356718106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661" r:id="rId18"/>
    <p:sldLayoutId id="2147483662" r:id="rId19"/>
    <p:sldLayoutId id="2147483663" r:id="rId20"/>
    <p:sldLayoutId id="2147483664" r:id="rId21"/>
    <p:sldLayoutId id="2147483665" r:id="rId22"/>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3390/fire7010013" TargetMode="External"/><Relationship Id="rId2" Type="http://schemas.openxmlformats.org/officeDocument/2006/relationships/hyperlink" Target="https://doi.org/10.1016/j.ijgeop.2022.02.005" TargetMode="External"/><Relationship Id="rId1" Type="http://schemas.openxmlformats.org/officeDocument/2006/relationships/slideLayout" Target="../slideLayouts/slideLayout2.xml"/><Relationship Id="rId4" Type="http://schemas.openxmlformats.org/officeDocument/2006/relationships/hyperlink" Target="https://doi.org/10.1016/j.isprsjprs.2019.10.013"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36278" y="4199211"/>
            <a:ext cx="4519819" cy="2445141"/>
          </a:xfrm>
        </p:spPr>
        <p:txBody>
          <a:bodyPr>
            <a:normAutofit/>
          </a:bodyPr>
          <a:lstStyle/>
          <a:p>
            <a:r>
              <a:rPr lang="en-US" sz="2000" b="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Presented By:</a:t>
            </a:r>
          </a:p>
          <a:p>
            <a:r>
              <a:rPr lang="en-US"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Y </a:t>
            </a:r>
            <a:r>
              <a:rPr lang="en-US" sz="1800" dirty="0" err="1">
                <a:solidFill>
                  <a:schemeClr val="tx1"/>
                </a:solidFill>
                <a:latin typeface="Times New Roman" panose="02020603050405020304" pitchFamily="18" charset="0"/>
                <a:ea typeface="Tahoma" panose="020B0604030504040204" pitchFamily="34" charset="0"/>
                <a:cs typeface="Times New Roman" panose="02020603050405020304" pitchFamily="18" charset="0"/>
              </a:rPr>
              <a:t>Havishitha</a:t>
            </a:r>
            <a:r>
              <a:rPr lang="en-US"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 21BCE8576</a:t>
            </a:r>
          </a:p>
          <a:p>
            <a:r>
              <a:rPr lang="en-US" sz="1800"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B Sai Sri Harshitha– 21BCE7594</a:t>
            </a:r>
          </a:p>
          <a:p>
            <a:r>
              <a:rPr lang="en-IN" sz="1800" i="0" dirty="0">
                <a:solidFill>
                  <a:schemeClr val="tx1"/>
                </a:solidFill>
                <a:effectLst/>
                <a:latin typeface="Times New Roman" panose="02020603050405020304" pitchFamily="18" charset="0"/>
                <a:cs typeface="Times New Roman" panose="02020603050405020304" pitchFamily="18" charset="0"/>
              </a:rPr>
              <a:t>S Asiya Anjum - 21BCE9958</a:t>
            </a:r>
          </a:p>
          <a:p>
            <a:r>
              <a:rPr lang="en-IN" sz="1800" i="0" dirty="0">
                <a:solidFill>
                  <a:schemeClr val="tx1"/>
                </a:solidFill>
                <a:effectLst/>
                <a:latin typeface="Times New Roman" panose="02020603050405020304" pitchFamily="18" charset="0"/>
                <a:cs typeface="Times New Roman" panose="02020603050405020304" pitchFamily="18" charset="0"/>
              </a:rPr>
              <a:t>D </a:t>
            </a:r>
            <a:r>
              <a:rPr lang="en-IN" sz="1800" i="0" dirty="0" err="1">
                <a:solidFill>
                  <a:schemeClr val="tx1"/>
                </a:solidFill>
                <a:effectLst/>
                <a:latin typeface="Times New Roman" panose="02020603050405020304" pitchFamily="18" charset="0"/>
                <a:cs typeface="Times New Roman" panose="02020603050405020304" pitchFamily="18" charset="0"/>
              </a:rPr>
              <a:t>Tejaswini</a:t>
            </a:r>
            <a:r>
              <a:rPr lang="en-IN" sz="1800" i="0" dirty="0">
                <a:solidFill>
                  <a:schemeClr val="tx1"/>
                </a:solidFill>
                <a:effectLst/>
                <a:latin typeface="Times New Roman" panose="02020603050405020304" pitchFamily="18" charset="0"/>
                <a:cs typeface="Times New Roman" panose="02020603050405020304" pitchFamily="18" charset="0"/>
              </a:rPr>
              <a:t> - 21BCE9949</a:t>
            </a:r>
          </a:p>
        </p:txBody>
      </p:sp>
      <p:sp>
        <p:nvSpPr>
          <p:cNvPr id="7" name="TextBox 6"/>
          <p:cNvSpPr txBox="1"/>
          <p:nvPr/>
        </p:nvSpPr>
        <p:spPr>
          <a:xfrm>
            <a:off x="1380649" y="1670403"/>
            <a:ext cx="9707564" cy="655885"/>
          </a:xfrm>
          <a:prstGeom prst="rect">
            <a:avLst/>
          </a:prstGeom>
          <a:noFill/>
        </p:spPr>
        <p:txBody>
          <a:bodyPr wrap="square" rtlCol="0">
            <a:spAutoFit/>
          </a:bodyPr>
          <a:lstStyle/>
          <a:p>
            <a:pPr marL="0" marR="0" algn="ctr">
              <a:lnSpc>
                <a:spcPct val="107000"/>
              </a:lnSpc>
              <a:spcBef>
                <a:spcPts val="0"/>
              </a:spcBef>
              <a:spcAft>
                <a:spcPts val="800"/>
              </a:spcAft>
            </a:pPr>
            <a:r>
              <a:rPr lang="en-US" sz="3600" b="1" dirty="0">
                <a:latin typeface="Times New Roman" panose="02020603050405020304" pitchFamily="18" charset="0"/>
                <a:cs typeface="Times New Roman" panose="02020603050405020304" pitchFamily="18" charset="0"/>
              </a:rPr>
              <a:t>Multi-Factor Forest Fire Prediction Model</a:t>
            </a:r>
            <a:endParaRPr lang="en-US" sz="36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6875253" y="4304581"/>
            <a:ext cx="5037826" cy="67710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Presented To: </a:t>
            </a:r>
          </a:p>
          <a:p>
            <a:r>
              <a:rPr lang="en-IN" b="0" i="0" dirty="0" err="1">
                <a:effectLst/>
                <a:latin typeface="Times New Roman" panose="02020603050405020304" pitchFamily="18" charset="0"/>
                <a:cs typeface="Times New Roman" panose="02020603050405020304" pitchFamily="18" charset="0"/>
              </a:rPr>
              <a:t>Prof.Reeja</a:t>
            </a:r>
            <a:r>
              <a:rPr lang="en-IN" b="0" i="0" dirty="0">
                <a:effectLst/>
                <a:latin typeface="Times New Roman" panose="02020603050405020304" pitchFamily="18" charset="0"/>
                <a:cs typeface="Times New Roman" panose="02020603050405020304" pitchFamily="18" charset="0"/>
              </a:rPr>
              <a:t> S R, SCOPE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3232" y="564571"/>
            <a:ext cx="9692640" cy="764565"/>
          </a:xfrm>
        </p:spPr>
        <p:txBody>
          <a:bodyPr/>
          <a:lstStyle/>
          <a:p>
            <a:r>
              <a:rPr lang="en-US" dirty="0">
                <a:effectLst>
                  <a:outerShdw blurRad="38100" dist="38100" dir="2700000" algn="tl">
                    <a:srgbClr val="000000">
                      <a:alpha val="43137"/>
                    </a:srgbClr>
                  </a:outerShdw>
                </a:effectLst>
              </a:rPr>
              <a:t>Abstract</a:t>
            </a:r>
          </a:p>
        </p:txBody>
      </p:sp>
      <p:sp>
        <p:nvSpPr>
          <p:cNvPr id="3" name="Content Placeholder 2"/>
          <p:cNvSpPr>
            <a:spLocks noGrp="1"/>
          </p:cNvSpPr>
          <p:nvPr>
            <p:ph idx="1"/>
          </p:nvPr>
        </p:nvSpPr>
        <p:spPr>
          <a:xfrm>
            <a:off x="713232" y="1514026"/>
            <a:ext cx="9122746" cy="4606408"/>
          </a:xfrm>
        </p:spPr>
        <p:txBody>
          <a:bodyPr>
            <a:normAutofit fontScale="92500" lnSpcReduction="20000"/>
          </a:bodyPr>
          <a:lstStyle/>
          <a:p>
            <a:pPr algn="just"/>
            <a:r>
              <a:rPr lang="en-US" sz="2000" dirty="0"/>
              <a:t>By combining information from a variety of sources, including weather, vegetation kinds, and past fire records, the Multi-Actor Forest Fire Prediction Model seeks to create an advanced machine learning-based system that can reliably anticipate forest fires. </a:t>
            </a:r>
          </a:p>
          <a:p>
            <a:pPr algn="just"/>
            <a:r>
              <a:rPr lang="en-US" sz="2000" dirty="0"/>
              <a:t>The project optimizes prediction accuracy and reliability by utilizing state-of-the-art methods such as Random Forest, Gradient Boosting, and Neural Networks. The system aims to mitigate forest fire damage by improving response strategies, enabling better resource allocation, and delivering early warnings through the use of contemporary machine learning techniques. </a:t>
            </a:r>
          </a:p>
          <a:p>
            <a:pPr algn="just"/>
            <a:r>
              <a:rPr lang="en-US" sz="2000" dirty="0"/>
              <a:t>To guarantee the model's robustness, evaluation metrics including accuracy, precision, recall, F1 score, and ROCAUC will be used. The project also emphasizes front-end application and cloud-based infrastructure seamless connectivity via APIs. With an anticipated accuracy of more than 85%, the resulting model will assist in the timely and data-driven decision-making that helps safeguard ecosystems and communities from the devastating effects of forest fires. </a:t>
            </a:r>
            <a:endParaRPr lang="en-US" sz="2000" dirty="0">
              <a:latin typeface="Times New Roman" panose="02020603050405020304" pitchFamily="18" charset="0"/>
              <a:cs typeface="Times New Roman" panose="02020603050405020304" pitchFamily="18" charset="0"/>
            </a:endParaRPr>
          </a:p>
        </p:txBody>
      </p:sp>
      <p:pic>
        <p:nvPicPr>
          <p:cNvPr id="4" name="Graphic 3" descr="Lightbulb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28262" y="206686"/>
            <a:ext cx="1122450" cy="1122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3232" y="564571"/>
            <a:ext cx="9692640" cy="764565"/>
          </a:xfrm>
        </p:spPr>
        <p:txBody>
          <a:bodyPr/>
          <a:lstStyle/>
          <a:p>
            <a:r>
              <a:rPr lang="en-US" dirty="0">
                <a:effectLst>
                  <a:outerShdw blurRad="38100" dist="38100" dir="2700000" algn="tl">
                    <a:srgbClr val="000000">
                      <a:alpha val="43137"/>
                    </a:srgbClr>
                  </a:outerShdw>
                </a:effectLst>
              </a:rPr>
              <a:t>Introduction</a:t>
            </a:r>
          </a:p>
        </p:txBody>
      </p:sp>
      <p:sp>
        <p:nvSpPr>
          <p:cNvPr id="3" name="Content Placeholder 2"/>
          <p:cNvSpPr>
            <a:spLocks noGrp="1"/>
          </p:cNvSpPr>
          <p:nvPr>
            <p:ph idx="1"/>
          </p:nvPr>
        </p:nvSpPr>
        <p:spPr>
          <a:xfrm>
            <a:off x="143338" y="1514025"/>
            <a:ext cx="9692640" cy="5232763"/>
          </a:xfrm>
        </p:spPr>
        <p:txBody>
          <a:bodyPr>
            <a:normAutofit/>
          </a:bodyPr>
          <a:lstStyle/>
          <a:p>
            <a:pPr algn="just"/>
            <a:r>
              <a:rPr lang="en-US" sz="2000" dirty="0"/>
              <a:t>First of all, Ecosystems, communities, and economies around the world are at serious risk due to the increasing frequency and severity of forest fires. In order to meet this issue, sophisticated prediction systems that can deliver precise, timely insights to minimize fire damage and facilitate early intervention measures are needed. </a:t>
            </a:r>
          </a:p>
          <a:p>
            <a:pPr algn="just"/>
            <a:r>
              <a:rPr lang="en-US" sz="2000" dirty="0"/>
              <a:t>By utilizing cutting-edge machine learning techniques, the Multi-Actor Forest Fire Prediction Model seeks to increase the precision and dependability of forest fire predictions. Evaluating different machine learning techniques and optimizing them through experimentation is one of the project's main objectives. </a:t>
            </a:r>
          </a:p>
          <a:p>
            <a:pPr algn="just"/>
            <a:r>
              <a:rPr lang="en-US" sz="2000" dirty="0"/>
              <a:t>The model's efficacy in real-world circumstances will be evaluated using metrics including accuracy, precision, recall, and F1 score. This project intends to improve response methods, enable better resource allocation, and eventually lessen the impact of forest fires on vulnerable communities and ecosystems by enhancing forest fire forecast skills.</a:t>
            </a:r>
          </a:p>
        </p:txBody>
      </p:sp>
      <p:pic>
        <p:nvPicPr>
          <p:cNvPr id="4" name="Graphic 3" descr="Lightbulb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28262" y="206686"/>
            <a:ext cx="1122450" cy="1122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3232" y="564571"/>
            <a:ext cx="9692640" cy="764565"/>
          </a:xfrm>
        </p:spPr>
        <p:txBody>
          <a:bodyPr/>
          <a:lstStyle/>
          <a:p>
            <a:r>
              <a:rPr lang="en-US" dirty="0">
                <a:effectLst>
                  <a:outerShdw blurRad="38100" dist="38100" dir="2700000" algn="tl">
                    <a:srgbClr val="000000">
                      <a:alpha val="43137"/>
                    </a:srgbClr>
                  </a:outerShdw>
                </a:effectLst>
              </a:rPr>
              <a:t>Problem Statement</a:t>
            </a:r>
          </a:p>
        </p:txBody>
      </p:sp>
      <p:sp>
        <p:nvSpPr>
          <p:cNvPr id="3" name="Content Placeholder 2"/>
          <p:cNvSpPr>
            <a:spLocks noGrp="1"/>
          </p:cNvSpPr>
          <p:nvPr>
            <p:ph idx="1"/>
          </p:nvPr>
        </p:nvSpPr>
        <p:spPr>
          <a:xfrm>
            <a:off x="143338" y="1514025"/>
            <a:ext cx="9692640" cy="5232763"/>
          </a:xfrm>
        </p:spPr>
        <p:txBody>
          <a:bodyPr>
            <a:normAutofit/>
          </a:bodyPr>
          <a:lstStyle/>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Develop a predictive model that utilizes multiple environmental and climatic factors (such as temperature, humidity, wind speed, and vegetation type) to forecast the likelihood of forest fires in a specific region over a defined time frame.</a:t>
            </a:r>
          </a:p>
          <a:p>
            <a:r>
              <a:rPr lang="en-US" sz="2000" dirty="0">
                <a:latin typeface="Times New Roman" panose="02020603050405020304" pitchFamily="18" charset="0"/>
                <a:cs typeface="Times New Roman" panose="02020603050405020304" pitchFamily="18" charset="0"/>
              </a:rPr>
              <a:t>Gather and integrate diverse datasets, including historical fire occurrence data, meteorological records, satellite imagery, and land use patterns, to create a comprehensive dataset for model training and validation.</a:t>
            </a:r>
          </a:p>
          <a:p>
            <a:r>
              <a:rPr lang="en-US" sz="2000" dirty="0">
                <a:latin typeface="Times New Roman" panose="02020603050405020304" pitchFamily="18" charset="0"/>
                <a:cs typeface="Times New Roman" panose="02020603050405020304" pitchFamily="18" charset="0"/>
              </a:rPr>
              <a:t>Employ advanced machine learning techniques to build the prediction model, ensuring it can accurately classify high-risk areas and predict fire events based on the identified factors, while also considering seasonality and geographical variations.</a:t>
            </a:r>
          </a:p>
          <a:p>
            <a:r>
              <a:rPr lang="en-US" sz="2000" dirty="0">
                <a:latin typeface="Times New Roman" panose="02020603050405020304" pitchFamily="18" charset="0"/>
                <a:cs typeface="Times New Roman" panose="02020603050405020304" pitchFamily="18" charset="0"/>
              </a:rPr>
              <a:t>Implement rigorous evaluation metrics (such as accuracy, precision, recall, and F1 score) to assess model performance, and develop actionable insights for stakeholders (like forest management agencies) to enhance preparedness and response strategies for forest fire incidents.</a:t>
            </a:r>
          </a:p>
        </p:txBody>
      </p:sp>
      <p:pic>
        <p:nvPicPr>
          <p:cNvPr id="4" name="Graphic 3" descr="Lightbulb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28262" y="206686"/>
            <a:ext cx="1122450" cy="1122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494270"/>
            <a:ext cx="9692640" cy="696340"/>
          </a:xfrm>
        </p:spPr>
        <p:txBody>
          <a:bodyPr/>
          <a:lstStyle/>
          <a:p>
            <a:r>
              <a:rPr lang="en-US" dirty="0">
                <a:effectLst>
                  <a:outerShdw blurRad="38100" dist="38100" dir="2700000" algn="tl">
                    <a:srgbClr val="000000">
                      <a:alpha val="43137"/>
                    </a:srgbClr>
                  </a:outerShdw>
                </a:effectLst>
              </a:rPr>
              <a:t>Literature Survey</a:t>
            </a:r>
          </a:p>
        </p:txBody>
      </p:sp>
      <p:sp>
        <p:nvSpPr>
          <p:cNvPr id="3" name="Content Placeholder 2"/>
          <p:cNvSpPr>
            <a:spLocks noGrp="1"/>
          </p:cNvSpPr>
          <p:nvPr>
            <p:ph idx="1"/>
          </p:nvPr>
        </p:nvSpPr>
        <p:spPr>
          <a:xfrm>
            <a:off x="207034" y="1468669"/>
            <a:ext cx="10769158" cy="4992516"/>
          </a:xfrm>
        </p:spPr>
        <p:txBody>
          <a:bodyPr>
            <a:no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This study, which was published in 2023 [1], integrates data from a variety of sources, including meteorological, topography, vegetation, infrastructural, and socioeconomic characteristics, to create a multi-factor forest fire prediction model in China through the use of machine learning techniques. In order to evaluate the effects of various variables on the frequency of forest fires, the study uses an Artificial Neural Network (ANN) with 13 input features.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It emphasizes that factors such as wind speed and proximity to highways have a limited influence. The study emphasizes the value of seasonal climate variations and cultural behaviors, such as festivals, in assessing fire danger by using ArcGIS for spatial data analysis. By supporting efficient forest fire control tactics and increasing forecast accuracy, the research should deepen our understanding of the dynamics of forest fires.</a:t>
            </a:r>
            <a:r>
              <a:rPr lang="en-US" sz="16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 study on multimodal translation is proposed by Shaowei Yao et al. </a:t>
            </a:r>
          </a:p>
          <a:p>
            <a:pPr marL="0" marR="0" algn="just">
              <a:lnSpc>
                <a:spcPct val="107000"/>
              </a:lnSpc>
              <a:spcBef>
                <a:spcPts val="0"/>
              </a:spcBef>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(2020) [3] based on self-attention in Transformers to solve the issue of relative importance of multimodalities. which eliminates irrelevant data from the imagery in order to learn the representations of the images based on the text. BLEU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Bilngual</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Evaluation Understudy) [15] and METEOR (Metric for Evaluation of Translation with Explicit Ordering) [16] are used to assess multimodal machine translation (MMT). Finally, the experiments had outperformed the other strategies; so, we could now assess the model's efficacy.</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Graphic 4" descr="Man and Woman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53742" y="216211"/>
            <a:ext cx="1122450" cy="1122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494270"/>
            <a:ext cx="9692640" cy="696340"/>
          </a:xfrm>
        </p:spPr>
        <p:txBody>
          <a:bodyPr/>
          <a:lstStyle/>
          <a:p>
            <a:r>
              <a:rPr lang="en-US" dirty="0">
                <a:effectLst>
                  <a:outerShdw blurRad="38100" dist="38100" dir="2700000" algn="tl">
                    <a:srgbClr val="000000">
                      <a:alpha val="43137"/>
                    </a:srgbClr>
                  </a:outerShdw>
                </a:effectLst>
              </a:rPr>
              <a:t>Literature Survey</a:t>
            </a:r>
          </a:p>
        </p:txBody>
      </p:sp>
      <p:sp>
        <p:nvSpPr>
          <p:cNvPr id="3" name="Content Placeholder 2"/>
          <p:cNvSpPr>
            <a:spLocks noGrp="1"/>
          </p:cNvSpPr>
          <p:nvPr>
            <p:ph idx="1"/>
          </p:nvPr>
        </p:nvSpPr>
        <p:spPr>
          <a:xfrm>
            <a:off x="86264" y="1190609"/>
            <a:ext cx="10812290" cy="5270575"/>
          </a:xfrm>
        </p:spPr>
        <p:txBody>
          <a:bodyPr>
            <a:no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An innovative method for estimating the danger of forest fires using support vector machines (SVM) is presented in the paper "Artificial Intelligence for Forest Fire Prediction," which was published in (2010) [2]. Using weather data from the Lebanese Agricultural Research Institute, the authors created a fire risk index on a range of 1 to 4, representing the likelihood of fires on particular days.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In order to improve prediction accuracy, the study underlines how crucial it is to use pertinent meteorological factors including temperature, humidity, wind speed, and precipitation. The results show how well the model works in estimating the risk of fire, but they also point up certain issues with extrapolating the program's results to other regions.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Alonso-Betanzos et al. (2003) [3] presented research on the creation of an intelligent system for managing and predicting forest fire risk that is specifically suited for the areas that have been severely impacted by wildfires. The system's three main goals are to help plan recovery operations for burned regions, support the monitoring and extinction phases of forest fires, and forecast forest fire threats to enable preventative measures.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With an accuracy of 0.789, the system divides fire risk into four categories using a neural network model in addition to a knowledge-based system created using the Common KADS technique. Because environmental factors differ by region, this research underscores the necessity for region-specific solutions and highlights the integration of new technologies in the fight against forest fires.</a:t>
            </a:r>
            <a:endParaRPr lang="en-IN" sz="1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Graphic 4" descr="Man and Woman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53742" y="216211"/>
            <a:ext cx="1122450" cy="1122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494270"/>
            <a:ext cx="9692640" cy="696340"/>
          </a:xfrm>
        </p:spPr>
        <p:txBody>
          <a:bodyPr/>
          <a:lstStyle/>
          <a:p>
            <a:r>
              <a:rPr lang="en-US" dirty="0">
                <a:effectLst>
                  <a:outerShdw blurRad="38100" dist="38100" dir="2700000" algn="tl">
                    <a:srgbClr val="000000">
                      <a:alpha val="43137"/>
                    </a:srgbClr>
                  </a:outerShdw>
                </a:effectLst>
              </a:rPr>
              <a:t>Literature Survey</a:t>
            </a:r>
          </a:p>
        </p:txBody>
      </p:sp>
      <p:sp>
        <p:nvSpPr>
          <p:cNvPr id="3" name="Content Placeholder 2"/>
          <p:cNvSpPr>
            <a:spLocks noGrp="1"/>
          </p:cNvSpPr>
          <p:nvPr>
            <p:ph idx="1"/>
          </p:nvPr>
        </p:nvSpPr>
        <p:spPr>
          <a:xfrm>
            <a:off x="310551" y="1338661"/>
            <a:ext cx="10553497" cy="5303128"/>
          </a:xfrm>
        </p:spPr>
        <p:txBody>
          <a:bodyPr>
            <a:no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The body of research on the modeling and analysis of forest fires has changed dramatically over time, with different studies using distinct approaches. While </a:t>
            </a:r>
            <a:r>
              <a:rPr lang="en-US" sz="1800" dirty="0" err="1">
                <a:effectLst/>
                <a:latin typeface="Times New Roman" panose="02020603050405020304" pitchFamily="18" charset="0"/>
                <a:ea typeface="Times New Roman" panose="02020603050405020304" pitchFamily="18" charset="0"/>
              </a:rPr>
              <a:t>Castedo</a:t>
            </a:r>
            <a:r>
              <a:rPr lang="en-US" sz="1800" dirty="0">
                <a:effectLst/>
                <a:latin typeface="Times New Roman" panose="02020603050405020304" pitchFamily="18" charset="0"/>
                <a:ea typeface="Times New Roman" panose="02020603050405020304" pitchFamily="18" charset="0"/>
              </a:rPr>
              <a:t>-Dorado et al. (2011) used logistic regression to examine the spatial correlations of lightning-induced fires in León, Spain, </a:t>
            </a:r>
            <a:r>
              <a:rPr lang="en-US" sz="1800" dirty="0" err="1">
                <a:effectLst/>
                <a:latin typeface="Times New Roman" panose="02020603050405020304" pitchFamily="18" charset="0"/>
                <a:ea typeface="Times New Roman" panose="02020603050405020304" pitchFamily="18" charset="0"/>
              </a:rPr>
              <a:t>Vilar</a:t>
            </a:r>
            <a:r>
              <a:rPr lang="en-US" sz="1800" dirty="0">
                <a:effectLst/>
                <a:latin typeface="Times New Roman" panose="02020603050405020304" pitchFamily="18" charset="0"/>
                <a:ea typeface="Times New Roman" panose="02020603050405020304" pitchFamily="18" charset="0"/>
              </a:rPr>
              <a:t> et al.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(2010) [4] created a logistic Generalized Additive Model to estimate fire occurrences in the Madrid region. Wang and Anderson (2011) employed K-function and kernel estimating techniques to assess the ignition patterns of fires caused by lightning and human activity in Alberta, Canada.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Maximum Entropy Models were used by Chen et al. (2015) to evaluate lightning fire incidents in China. Regression analysis is often used in research, but fewer studies use Bayesian networks (BNs) to estimate the frequency of fires. Swaziland's fire risk map was produced by Dlamini (2011) with a BN linked with GIS and remote sensing data, and Penman et al. (2012) analyzed management actions in fire planning through Bayes Nets.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The current study by </a:t>
            </a:r>
            <a:r>
              <a:rPr lang="en-US" sz="1800" dirty="0" err="1">
                <a:effectLst/>
                <a:latin typeface="Times New Roman" panose="02020603050405020304" pitchFamily="18" charset="0"/>
                <a:ea typeface="Times New Roman" panose="02020603050405020304" pitchFamily="18" charset="0"/>
              </a:rPr>
              <a:t>Sevinc</a:t>
            </a:r>
            <a:r>
              <a:rPr lang="en-US" sz="1800" dirty="0">
                <a:effectLst/>
                <a:latin typeface="Times New Roman" panose="02020603050405020304" pitchFamily="18" charset="0"/>
                <a:ea typeface="Times New Roman" panose="02020603050405020304" pitchFamily="18" charset="0"/>
              </a:rPr>
              <a:t> et al. (2019) introduces a Bayesian network model to predict forest fire causes in the </a:t>
            </a:r>
            <a:r>
              <a:rPr lang="en-US" sz="1800" dirty="0" err="1">
                <a:effectLst/>
                <a:latin typeface="Times New Roman" panose="02020603050405020304" pitchFamily="18" charset="0"/>
                <a:ea typeface="Times New Roman" panose="02020603050405020304" pitchFamily="18" charset="0"/>
              </a:rPr>
              <a:t>Mugla</a:t>
            </a:r>
            <a:r>
              <a:rPr lang="en-US" sz="1800" dirty="0">
                <a:effectLst/>
                <a:latin typeface="Times New Roman" panose="02020603050405020304" pitchFamily="18" charset="0"/>
                <a:ea typeface="Times New Roman" panose="02020603050405020304" pitchFamily="18" charset="0"/>
              </a:rPr>
              <a:t> region of Turkey, identifying key risk factors such as temperature, relative humidity, and human activities. This body of work underscores the importance of advanced modeling techniques in understanding and managing forest fire risks.</a:t>
            </a:r>
            <a:endParaRPr lang="en-IN" sz="1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Graphic 4" descr="Man and Woman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53742" y="216211"/>
            <a:ext cx="1122450" cy="1122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494270"/>
            <a:ext cx="9692640" cy="696340"/>
          </a:xfrm>
        </p:spPr>
        <p:txBody>
          <a:bodyPr/>
          <a:lstStyle/>
          <a:p>
            <a:r>
              <a:rPr lang="en-US" dirty="0">
                <a:effectLst>
                  <a:outerShdw blurRad="38100" dist="38100" dir="2700000" algn="tl">
                    <a:srgbClr val="000000">
                      <a:alpha val="43137"/>
                    </a:srgbClr>
                  </a:outerShdw>
                </a:effectLst>
              </a:rPr>
              <a:t>Literature Survey</a:t>
            </a:r>
          </a:p>
        </p:txBody>
      </p:sp>
      <p:sp>
        <p:nvSpPr>
          <p:cNvPr id="3" name="Content Placeholder 2"/>
          <p:cNvSpPr>
            <a:spLocks noGrp="1"/>
          </p:cNvSpPr>
          <p:nvPr>
            <p:ph idx="1"/>
          </p:nvPr>
        </p:nvSpPr>
        <p:spPr>
          <a:xfrm>
            <a:off x="231582" y="1312946"/>
            <a:ext cx="10655939" cy="5451179"/>
          </a:xfrm>
        </p:spPr>
        <p:txBody>
          <a:bodyPr>
            <a:noAutofit/>
          </a:bodyPr>
          <a:lstStyle/>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In their thorough examination of machine learning models for predicting forest fires, </a:t>
            </a:r>
            <a:r>
              <a:rPr lang="en-US" sz="1800" dirty="0" err="1">
                <a:effectLst/>
                <a:latin typeface="Times New Roman" panose="02020603050405020304" pitchFamily="18" charset="0"/>
                <a:ea typeface="Times New Roman" panose="02020603050405020304" pitchFamily="18" charset="0"/>
              </a:rPr>
              <a:t>Khosravi</a:t>
            </a:r>
            <a:r>
              <a:rPr lang="en-US" sz="1800" dirty="0">
                <a:effectLst/>
                <a:latin typeface="Times New Roman" panose="02020603050405020304" pitchFamily="18" charset="0"/>
                <a:ea typeface="Times New Roman" panose="02020603050405020304" pitchFamily="18" charset="0"/>
              </a:rPr>
              <a:t> et al. (2023) [5] emphasized the significance of feature selection and time-stage evaluation within the context of the Cross-Industry Standard Process for Data Mining (CRISP-DM). </a:t>
            </a:r>
          </a:p>
          <a:p>
            <a:pPr marL="0" marR="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The study emphasizes how forest fires are both a natural occurrence and a serious hazard to the environment and public health, making accurate prediction models essential for efficient fire management and public safety. The authors investigated a variety of models, including decision trees, artificial neural networks, and support vector machines, to find intricate patterns in the data related to forest fires by utilizing big data and cutting-edge machine learning approaches. </a:t>
            </a:r>
          </a:p>
          <a:p>
            <a:pPr marL="0" algn="just">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rPr>
              <a:t>Due to regional differences in data, they observed that no single model could accurately forecast fire behavior, highlighting the necessity for customized techniques in different regions. This research contributes to the growing body of literature on forest fire prediction, providing a systematic comparison of machine learning methodologies and establishing a baseline for future studies in this critical area of environmental management.</a:t>
            </a:r>
            <a:r>
              <a:rPr lang="en-IN" sz="1800" dirty="0">
                <a:effectLst/>
                <a:latin typeface="Times New Roman" panose="02020603050405020304" pitchFamily="18" charset="0"/>
                <a:ea typeface="Times New Roman" panose="02020603050405020304" pitchFamily="18" charset="0"/>
              </a:rPr>
              <a:t> </a:t>
            </a:r>
          </a:p>
          <a:p>
            <a:pPr marL="0" algn="just">
              <a:lnSpc>
                <a:spcPct val="107000"/>
              </a:lnSpc>
              <a:spcBef>
                <a:spcPts val="0"/>
              </a:spcBef>
              <a:spcAft>
                <a:spcPts val="800"/>
              </a:spcAft>
            </a:pPr>
            <a:r>
              <a:rPr lang="en-IN" sz="1800" dirty="0">
                <a:effectLst/>
                <a:latin typeface="Times New Roman" panose="02020603050405020304" pitchFamily="18" charset="0"/>
                <a:ea typeface="Times New Roman" panose="02020603050405020304" pitchFamily="18" charset="0"/>
              </a:rPr>
              <a:t>Using TOPSIS and SAW techniques,[6] the study examines forest fire prevention tactics in Iran's </a:t>
            </a:r>
            <a:r>
              <a:rPr lang="en-IN" sz="1800" dirty="0" err="1">
                <a:effectLst/>
                <a:latin typeface="Times New Roman" panose="02020603050405020304" pitchFamily="18" charset="0"/>
                <a:ea typeface="Times New Roman" panose="02020603050405020304" pitchFamily="18" charset="0"/>
              </a:rPr>
              <a:t>Arasbaran</a:t>
            </a:r>
            <a:r>
              <a:rPr lang="en-IN" sz="1800" dirty="0">
                <a:effectLst/>
                <a:latin typeface="Times New Roman" panose="02020603050405020304" pitchFamily="18" charset="0"/>
                <a:ea typeface="Times New Roman" panose="02020603050405020304" pitchFamily="18" charset="0"/>
              </a:rPr>
              <a:t> Forest. The three most important factors, according to TOPSIS, were "lack of deterrence laws," "association and cooperation between institutions," and "lack of up-to-date scientific information." Three crucial elements were identified by SAW: "local people participation," "institutional cooperation," and "NGO involvement." Both approaches stress how crucial local involvement and institutional cooperation are to successful fire management. </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Graphic 4" descr="Man and Woman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53742" y="216211"/>
            <a:ext cx="1122450" cy="11224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169" y="572617"/>
            <a:ext cx="9692640" cy="578787"/>
          </a:xfrm>
        </p:spPr>
        <p:txBody>
          <a:bodyPr>
            <a:normAutofit fontScale="90000"/>
          </a:bodyPr>
          <a:lstStyle/>
          <a:p>
            <a:r>
              <a:rPr lang="en-US" dirty="0">
                <a:effectLst>
                  <a:outerShdw blurRad="38100" dist="38100" dir="2700000" algn="tl">
                    <a:srgbClr val="000000">
                      <a:alpha val="43137"/>
                    </a:srgbClr>
                  </a:outerShdw>
                </a:effectLst>
              </a:rPr>
              <a:t>Approaches</a:t>
            </a:r>
          </a:p>
        </p:txBody>
      </p:sp>
      <p:sp>
        <p:nvSpPr>
          <p:cNvPr id="3" name="Content Placeholder 2"/>
          <p:cNvSpPr>
            <a:spLocks noGrp="1"/>
          </p:cNvSpPr>
          <p:nvPr>
            <p:ph idx="1"/>
          </p:nvPr>
        </p:nvSpPr>
        <p:spPr>
          <a:xfrm>
            <a:off x="384541" y="1432187"/>
            <a:ext cx="10543504" cy="4874540"/>
          </a:xfrm>
        </p:spPr>
        <p:txBody>
          <a:bodyPr>
            <a:noAutofit/>
          </a:bodyPr>
          <a:lstStyle/>
          <a:p>
            <a:pPr marL="342900" marR="0" indent="-342900" algn="just">
              <a:lnSpc>
                <a:spcPct val="107000"/>
              </a:lnSpc>
              <a:spcBef>
                <a:spcPts val="0"/>
              </a:spcBef>
              <a:spcAft>
                <a:spcPts val="800"/>
              </a:spcAft>
              <a:buAutoNum type="alphaUcPeriod"/>
            </a:pPr>
            <a:r>
              <a:rPr lang="en-IN" sz="1500" b="1" dirty="0">
                <a:latin typeface="Times New Roman" panose="02020603050405020304" pitchFamily="18" charset="0"/>
                <a:cs typeface="Times New Roman" panose="02020603050405020304" pitchFamily="18" charset="0"/>
              </a:rPr>
              <a:t>CNN</a:t>
            </a:r>
            <a:r>
              <a:rPr lang="en-US" sz="15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Convolutional Neural Networks (CNNs) have become a cornerstone in forest fire detection due to their ability to automatically extract relevant features from images, such as edges, textures, and patterns, without the need for manual intervention. In fire detection, CNNs are particularly effective in classifying fire, smoke, and non-fire images by learning specific visual characteristics associated with each. Despite challenges like false positives, where the model may confuse non-fire elements (e.g., sunlight, industrial smoke), </a:t>
            </a:r>
            <a:r>
              <a:rPr lang="en-US" sz="1500" dirty="0" err="1">
                <a:latin typeface="Times New Roman" panose="02020603050405020304" pitchFamily="18" charset="0"/>
                <a:cs typeface="Times New Roman" panose="02020603050405020304" pitchFamily="18" charset="0"/>
              </a:rPr>
              <a:t>CNNbased</a:t>
            </a:r>
            <a:r>
              <a:rPr lang="en-US" sz="1500" dirty="0">
                <a:latin typeface="Times New Roman" panose="02020603050405020304" pitchFamily="18" charset="0"/>
                <a:cs typeface="Times New Roman" panose="02020603050405020304" pitchFamily="18" charset="0"/>
              </a:rPr>
              <a:t> approaches provide significant advantages in real-time, scalable fire detection when integrated with lightweight architectures or optimized for deployment on edge devices like drones or sensors. CNNs outperform traditional machine learning models, like SVMs or random forests, by learning fire-specific features directly from the data, leading to better generalization across diverse environments and lighting conditions. Additionally, CNNs can leverage transfer learning, where pre-trained models are fine-tuned on fire datasets, improving accuracy and reducing training time. </a:t>
            </a:r>
          </a:p>
          <a:p>
            <a:pPr marL="342900" marR="0" indent="-342900" algn="just">
              <a:lnSpc>
                <a:spcPct val="107000"/>
              </a:lnSpc>
              <a:spcBef>
                <a:spcPts val="0"/>
              </a:spcBef>
              <a:spcAft>
                <a:spcPts val="800"/>
              </a:spcAft>
              <a:buAutoNum type="alphaUcPeriod"/>
            </a:pPr>
            <a:r>
              <a:rPr lang="en-US" sz="1500" b="1" kern="100" dirty="0">
                <a:effectLst/>
                <a:latin typeface="Times New Roman" panose="02020603050405020304" pitchFamily="18" charset="0"/>
                <a:ea typeface="Calibri" panose="020F0502020204030204" pitchFamily="34" charset="0"/>
                <a:cs typeface="Times New Roman" panose="02020603050405020304" pitchFamily="18" charset="0"/>
              </a:rPr>
              <a:t>SVM: </a:t>
            </a:r>
            <a:r>
              <a:rPr lang="en-US" sz="1500" dirty="0">
                <a:latin typeface="Times New Roman" panose="02020603050405020304" pitchFamily="18" charset="0"/>
                <a:cs typeface="Times New Roman" panose="02020603050405020304" pitchFamily="18" charset="0"/>
              </a:rPr>
              <a:t>Support Vector Machines (SVMs) are a popular supervised machine learning algorithm, often used for classification tasks, including forest fire detection. SVMs work by finding a hyperplane that best separates different classes in a feature space, maximizing the margin between them. In the context of forest fire detection, SVMs can be trained to distinguish between images containing fire and those without fire by using features such as color, texture, and shape.</a:t>
            </a:r>
            <a:r>
              <a:rPr lang="en-US" sz="1600" dirty="0"/>
              <a:t> </a:t>
            </a:r>
            <a:r>
              <a:rPr lang="en-US" sz="1500" dirty="0">
                <a:latin typeface="Times New Roman" panose="02020603050405020304" pitchFamily="18" charset="0"/>
                <a:cs typeface="Times New Roman" panose="02020603050405020304" pitchFamily="18" charset="0"/>
              </a:rPr>
              <a:t>Unlike deep learning methods like CNNs, SVMs rely on manually extracted features, which makes their performance highly dependent on the quality of these features. While SVMs perform well in controlled environments and with small datasets, they often struggle with complex, </a:t>
            </a:r>
            <a:r>
              <a:rPr lang="en-US" sz="1500" dirty="0" err="1">
                <a:latin typeface="Times New Roman" panose="02020603050405020304" pitchFamily="18" charset="0"/>
                <a:cs typeface="Times New Roman" panose="02020603050405020304" pitchFamily="18" charset="0"/>
              </a:rPr>
              <a:t>highdimensional</a:t>
            </a:r>
            <a:r>
              <a:rPr lang="en-US" sz="1500" dirty="0">
                <a:latin typeface="Times New Roman" panose="02020603050405020304" pitchFamily="18" charset="0"/>
                <a:cs typeface="Times New Roman" panose="02020603050405020304" pitchFamily="18" charset="0"/>
              </a:rPr>
              <a:t> data like satellite or aerial imagery. This is because SVMs are not inherently designed to handle the variability in lighting, smoke patterns, and environmental conditions that are crucial in fire detection. </a:t>
            </a:r>
          </a:p>
        </p:txBody>
      </p:sp>
      <p:pic>
        <p:nvPicPr>
          <p:cNvPr id="6" name="Graphic 5" descr="Tools icon"/>
          <p:cNvPicPr>
            <a:picLocks noChangeAspect="1"/>
          </p:cNvPicPr>
          <p:nvPr/>
        </p:nvPicPr>
        <p:blipFill>
          <a:blip r:embed="rId2"/>
          <a:stretch>
            <a:fillRect/>
          </a:stretch>
        </p:blipFill>
        <p:spPr>
          <a:xfrm>
            <a:off x="9884045" y="340011"/>
            <a:ext cx="1044000" cy="104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169" y="572617"/>
            <a:ext cx="9692640" cy="578787"/>
          </a:xfrm>
        </p:spPr>
        <p:txBody>
          <a:bodyPr>
            <a:normAutofit fontScale="90000"/>
          </a:bodyPr>
          <a:lstStyle/>
          <a:p>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 Future Works</a:t>
            </a:r>
          </a:p>
        </p:txBody>
      </p:sp>
      <p:sp>
        <p:nvSpPr>
          <p:cNvPr id="4" name="TextBox 3"/>
          <p:cNvSpPr txBox="1"/>
          <p:nvPr/>
        </p:nvSpPr>
        <p:spPr>
          <a:xfrm>
            <a:off x="891169" y="1519881"/>
            <a:ext cx="9692640" cy="4762650"/>
          </a:xfrm>
          <a:prstGeom prst="rect">
            <a:avLst/>
          </a:prstGeom>
          <a:noFill/>
        </p:spPr>
        <p:txBody>
          <a:bodyPr wrap="square" rtlCol="0">
            <a:spAutoFit/>
          </a:bodyPr>
          <a:lstStyle/>
          <a:p>
            <a:pPr marL="0" marR="0" algn="just">
              <a:lnSpc>
                <a:spcPct val="107000"/>
              </a:lnSpc>
              <a:spcBef>
                <a:spcPts val="0"/>
              </a:spcBef>
              <a:spcAft>
                <a:spcPts val="800"/>
              </a:spcAf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a:t>In Multi-Factor Forest Fire Prediction, To precisely predict the occurrence of forest fires, we created and implemented a forest fire prediction model utilizing </a:t>
            </a:r>
            <a:r>
              <a:rPr lang="en-US" sz="1600" dirty="0" err="1"/>
              <a:t>LSTNet</a:t>
            </a:r>
            <a:r>
              <a:rPr lang="en-US" sz="1600" dirty="0"/>
              <a:t>. We identified eight major factors impacting forest fires by utilizing data from remote sensing satellites and GIS, and we used methods such as Pearson correlation analysis to quantify the interrelationships between these components. The RMSE statistic confirmed that the </a:t>
            </a:r>
            <a:r>
              <a:rPr lang="en-US" sz="1600" dirty="0" err="1"/>
              <a:t>LSTNet</a:t>
            </a:r>
            <a:r>
              <a:rPr lang="en-US" sz="1600" dirty="0"/>
              <a:t> model outperformed more conventional machine learning techniques like SVM in terms of predicted accuracy (ACC 0.941). The model's efficacy in predicting fire susceptibility is highlighted by its capacity to incorporate both spatial background information and the periodicity of forest fire causes. </a:t>
            </a:r>
          </a:p>
          <a:p>
            <a:pPr marL="0" marR="0" algn="just">
              <a:lnSpc>
                <a:spcPct val="107000"/>
              </a:lnSpc>
              <a:spcBef>
                <a:spcPts val="0"/>
              </a:spcBef>
              <a:spcAft>
                <a:spcPts val="800"/>
              </a:spcAft>
            </a:pPr>
            <a:r>
              <a:rPr lang="en-US" sz="1600" dirty="0"/>
              <a:t>The risk map created for </a:t>
            </a:r>
            <a:r>
              <a:rPr lang="en-US" sz="1600" dirty="0" err="1"/>
              <a:t>Chongli</a:t>
            </a:r>
            <a:r>
              <a:rPr lang="en-US" sz="1600" dirty="0"/>
              <a:t>, China, adds to improved fire control techniques by offering a crucial instrument for preventing forest fires. This study highlights the potential of machine learning approaches, specifically </a:t>
            </a:r>
            <a:r>
              <a:rPr lang="en-US" sz="1600" dirty="0" err="1"/>
              <a:t>LSTNet</a:t>
            </a:r>
            <a:r>
              <a:rPr lang="en-US" sz="1600" dirty="0"/>
              <a:t>, in improving forest fire prediction and safeguarding vulnerable forest regions. Future iterations of the model might entail adding more variables to the list of environmental elements, like vegetation types, soil moisture content, and wind patterns. </a:t>
            </a:r>
          </a:p>
          <a:p>
            <a:pPr marL="0" marR="0" algn="just">
              <a:lnSpc>
                <a:spcPct val="107000"/>
              </a:lnSpc>
              <a:spcBef>
                <a:spcPts val="0"/>
              </a:spcBef>
              <a:spcAft>
                <a:spcPts val="800"/>
              </a:spcAft>
            </a:pPr>
            <a:r>
              <a:rPr lang="en-US" sz="1600" dirty="0"/>
              <a:t>The accuracy and responsiveness of the model might be further improved by adding real-time input from IoT-based sensors. Deeper insights into spatiotemporal dependencies may also be obtained by incorporating sophisticated oversampling techniques and experimenting with other neural network designs, such as CNNLSTM.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169" y="572617"/>
            <a:ext cx="9692640" cy="578787"/>
          </a:xfrm>
        </p:spPr>
        <p:txBody>
          <a:bodyPr>
            <a:normAutofit fontScale="90000"/>
          </a:bodyPr>
          <a:lstStyle/>
          <a:p>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p>
        </p:txBody>
      </p:sp>
      <p:sp>
        <p:nvSpPr>
          <p:cNvPr id="4" name="TextBox 3"/>
          <p:cNvSpPr txBox="1"/>
          <p:nvPr/>
        </p:nvSpPr>
        <p:spPr>
          <a:xfrm>
            <a:off x="532823" y="1151404"/>
            <a:ext cx="10345086" cy="5836213"/>
          </a:xfrm>
          <a:prstGeom prst="rect">
            <a:avLst/>
          </a:prstGeom>
          <a:noFill/>
        </p:spPr>
        <p:txBody>
          <a:bodyPr wrap="square" rtlCol="0">
            <a:spAutoFit/>
          </a:bodyPr>
          <a:lstStyle/>
          <a:p>
            <a:pPr algn="just">
              <a:lnSpc>
                <a:spcPct val="107000"/>
              </a:lnSpc>
              <a:spcAft>
                <a:spcPts val="800"/>
              </a:spcAf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1]. Li, Y., Feng, Z., Zhao, Z., Chen, S., &amp; Zhang, H. (2023). Research on Multi-factor Forest Fire Prediction Model Using Machine Learning Method in China. *Precision Forestry Key Laboratory of Beijing, Beijing Forestry University*. </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Sakr</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G. E.,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Elhajj</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I. H.,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Mitri</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G., &amp;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Wejinya</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U. C. (2010). Artificial Intelligence for Forest Fire Prediction. In Proceedings of the 2010 IEEE International Conference on Artificial Intelligence and Machine Learning (AIM), pp. 1-7. DOI: 10.1109/AIM.2010.5695809.</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[3]. Alonso-Betanzos, A.,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Fontenla</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-Romero, O.,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Guijarro-Berdiñas</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B., Hernández-Pereira, E., Paz Andrade, M. I., Jiménez, E.,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Legido</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Soto, J., L., &amp;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Carballas</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T. (2003). An intelligent system for forest fire risk prediction and fire fighting management in Galicia. *Expert Systems with Applications, 25*(4), 545-554. https://doi.org/10.1016/S0957-4174(03)00095-2.</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Sevinc</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V.,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Kucuk</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O., &amp;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Goltas</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M. (2023). A Bayesian network model for prediction and analysis of possible forest fire causes. *Forest Ecology and Management*. doi:10.1016/j.foreco.2023.120000. </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[5].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Khosravi</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H.,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Shafie</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M. R., Raihan, A. S., Syed, M. A. B., &amp; Ahmed, I. (2023). Optimizing Forest Fire Prediction: A Comparative Analysis of Machine Learning Models through Feature Selection and Time-Stage Evaluation. Preprints. doi:10.20944/preprints202312.0577.v1.</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[6]. Roya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abedi</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(2022). A</a:t>
            </a:r>
            <a:r>
              <a:rPr lang="en-IN" sz="1500" i="1" dirty="0" err="1">
                <a:effectLst/>
                <a:latin typeface="Times New Roman" panose="02020603050405020304" pitchFamily="18" charset="0"/>
                <a:ea typeface="Times New Roman" panose="02020603050405020304" pitchFamily="18" charset="0"/>
                <a:cs typeface="Times New Roman" panose="02020603050405020304" pitchFamily="18" charset="0"/>
              </a:rPr>
              <a:t>pplication</a:t>
            </a: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 of multi-criteria decision making models to forest fire management : </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Department of Forestry,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Ahar</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Faculty of Agriculture and Natural Resources, University of Tabriz, Ira. </a:t>
            </a:r>
            <a:r>
              <a:rPr lang="en-IN" sz="1500" i="1" u="sng" dirty="0">
                <a:solidFill>
                  <a:srgbClr val="0563C1"/>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https://doi.org/10.1016/j.ijgeop.2022.02.005</a:t>
            </a:r>
            <a:endParaRPr lang="en-IN" sz="1500" i="1"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[7].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Yanzhi</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Li,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Guohui</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Li, Kaifeng Wang,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Zumin</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Wang, </a:t>
            </a:r>
            <a:r>
              <a:rPr lang="en-US" sz="1500" i="1" dirty="0" err="1">
                <a:effectLst/>
                <a:latin typeface="Times New Roman" panose="02020603050405020304" pitchFamily="18" charset="0"/>
                <a:ea typeface="Times New Roman" panose="02020603050405020304" pitchFamily="18" charset="0"/>
                <a:cs typeface="Times New Roman" panose="02020603050405020304" pitchFamily="18" charset="0"/>
              </a:rPr>
              <a:t>Yanqiu</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 Chen(2023). </a:t>
            </a: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Forest Fire Risk Prediction Based on Stacking Ensemble Learning for Yunnan Province of China. </a:t>
            </a:r>
            <a:r>
              <a:rPr lang="en-IN" sz="1500" i="1" u="sng" dirty="0">
                <a:solidFill>
                  <a:srgbClr val="0563C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https://doi.org/10.3390/fire7010013</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[8].</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Carmine Maffei, </a:t>
            </a: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Massimo </a:t>
            </a:r>
            <a:r>
              <a:rPr lang="en-IN" sz="1500" i="1" dirty="0" err="1">
                <a:effectLst/>
                <a:latin typeface="Times New Roman" panose="02020603050405020304" pitchFamily="18" charset="0"/>
                <a:ea typeface="Times New Roman" panose="02020603050405020304" pitchFamily="18" charset="0"/>
                <a:cs typeface="Times New Roman" panose="02020603050405020304" pitchFamily="18" charset="0"/>
              </a:rPr>
              <a:t>Menenti</a:t>
            </a: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 (2019). Predicting forest fires burned area and rate of spread from pre-fire multispectral satellite measurements. </a:t>
            </a:r>
            <a:r>
              <a:rPr lang="en-IN" sz="1500" i="1" u="sng" dirty="0">
                <a:solidFill>
                  <a:srgbClr val="0563C1"/>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rPr>
              <a:t>https://doi.org/10.1016/j.isprsjprs.2019.10.013</a:t>
            </a: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917" y="0"/>
            <a:ext cx="12195917" cy="6855797"/>
          </a:xfrm>
          <a:prstGeom prst="rect">
            <a:avLst/>
          </a:prstGeom>
        </p:spPr>
      </p:pic>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37</TotalTime>
  <Words>2624</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Times New Roman</vt:lpstr>
      <vt:lpstr>Wingdings 3</vt:lpstr>
      <vt:lpstr>Wisp</vt:lpstr>
      <vt:lpstr>PowerPoint Presentation</vt:lpstr>
      <vt:lpstr>Abstract</vt:lpstr>
      <vt:lpstr>Introduction</vt:lpstr>
      <vt:lpstr>Problem Statement</vt:lpstr>
      <vt:lpstr>Literature Survey</vt:lpstr>
      <vt:lpstr>Literature Survey</vt:lpstr>
      <vt:lpstr>Literature Survey</vt:lpstr>
      <vt:lpstr>Literature Survey</vt:lpstr>
      <vt:lpstr>Approaches</vt:lpstr>
      <vt:lpstr>Conclusion/ Future Works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Invention</dc:title>
  <dc:creator>sai srushik Govindgari</dc:creator>
  <cp:lastModifiedBy>HAVISHITHA YALLAMRAJU</cp:lastModifiedBy>
  <cp:revision>162</cp:revision>
  <dcterms:created xsi:type="dcterms:W3CDTF">2023-12-01T13:05:00Z</dcterms:created>
  <dcterms:modified xsi:type="dcterms:W3CDTF">2024-10-14T05:24:08Z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33774410AC734435BD062AFEE55A9420_12</vt:lpwstr>
  </property>
  <property fmtid="{D5CDD505-2E9C-101B-9397-08002B2CF9AE}" pid="3" name="KSOProductBuildVer">
    <vt:lpwstr>1033-12.2.0.18586</vt:lpwstr>
  </property>
</Properties>
</file>